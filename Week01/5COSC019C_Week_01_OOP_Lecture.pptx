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3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7656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clarifying that this is the Pure Java/OOP stream. Spring Boot is not taught in this session. The lecture is workshop-based: students should code and reason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manage expectations. Students should open their IDEs and type. Emphasise that the separate Spring/Enterprise session will apply these same concepts in a framework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outcomes and point out the success test. The output of this session is not a large application; it is the correct object-oriented mental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timing visible. Do not sacrifice Q&amp;A to finish extra content. If students are slow, reduce depth rather than expanding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answer individually. This is diagnostic, not punitive. Use responses to adjust 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Camera x 3; 59.97; false; true. Focus on expression evaluation and String concatenation.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The objective is to refresh, not reteach Java from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label return type, method name, parameters and return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control flow focused. We need it later for validation and object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quick success experience before moving to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introduce classes until the pain is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how they would pass item2 to a method. This leads directly to the need for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transition. A class is not merely syntax; it is a new type in the problem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writing the class does not create objects. It defines the blueprint/type.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code uses public fields temporarily. In Week 2 we will fix that with encapsulation.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familiar analogy if needed, but do not overuse metaphors. Bring it back to Java code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out: constructor has no return type. Students often write void by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resolve the most common confusion about identical field and parameter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camera.name is not affected. The objects have independent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distinction supports later equality, references, and object identity discussions.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bit advanced, but useful. Stress that both reference variables refer to the same object in this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idea that methods express object behaviour and reduce scattered business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identify return types and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back to Java methods recap. The new idea is the method is attached to an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Pause. Let the room run the code. This is the practical midpoint.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student coding activity. Circulate and inspect method signatures.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prepares students for lab practicals where unfamiliar compiler errors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for pre-emptive correction. Ask students which mistake they think they are most likely to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 UML notation follows in Week 2. Keep it light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as reference only after students have tried. Do not begin with the full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pedagogical choice explicit: Week 1 public fields are temporary. Week 2 fixes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run this code and verify they understand each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for formative assessment. If many students struggle, slow down before proceeding.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use these exact terms: class, object, instance, constructor, state,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can be used as an exit ticket. If a student cannot do these, Week 2 will be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creates continuity between Week 1 and Week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gives students transfer practice without introducing new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for lecturers using the deck. It can be hidden for student delivery if desired.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here. Do not continue with new content. The final 15 minutes are protected for student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57A"/>
                </a:solidFill>
              </a:rPr>
              <a:t>5COSC019W · Object Oriented Programming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01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Pure OOP Lecture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30936" y="2514600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F1F1F"/>
                </a:solidFill>
              </a:rPr>
              <a:t>Java Foundations, Classes and Objects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0936" y="306324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66666"/>
                </a:solidFill>
              </a:rPr>
              <a:t>2-hour workshop lecture · Pure Java only · No Spring Boot in this session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0" y="1234440"/>
            <a:ext cx="2880360" cy="2743200"/>
          </a:xfrm>
          <a:prstGeom prst="roundRect">
            <a:avLst>
              <a:gd name="adj" fmla="val 1667"/>
            </a:avLst>
          </a:prstGeom>
          <a:solidFill>
            <a:srgbClr val="E6F4F2"/>
          </a:solidFill>
          <a:ln w="1397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7" name="Text 5"/>
          <p:cNvSpPr/>
          <p:nvPr/>
        </p:nvSpPr>
        <p:spPr>
          <a:xfrm>
            <a:off x="8302752" y="1307592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65D"/>
                </a:solidFill>
              </a:rPr>
              <a:t>EquipmentItem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0" y="1618488"/>
            <a:ext cx="2880360" cy="0"/>
          </a:xfrm>
          <a:prstGeom prst="line">
            <a:avLst/>
          </a:prstGeom>
          <a:noFill/>
          <a:ln w="889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8339328" y="1709928"/>
            <a:ext cx="2660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id : long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name : String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cost : double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available : boolean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0" y="2478024"/>
            <a:ext cx="2880360" cy="0"/>
          </a:xfrm>
          <a:prstGeom prst="line">
            <a:avLst/>
          </a:prstGeom>
          <a:noFill/>
          <a:ln w="889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8339328" y="2569464"/>
            <a:ext cx="26609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displayDetails()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calculateLateFee(days)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isExpensive(threshold)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18120" y="48920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365D"/>
                </a:solidFill>
              </a:rPr>
              <a:t>From loose variables → meaningful objects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1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separate Pure OOP session?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We teach the Java concept before applying it in Enterprise Application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EAF2F8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758952" y="1554480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The student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" y="1847088"/>
            <a:ext cx="4974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When Java syntax, object-oriented thinking, HTTP, annotations and Spring behaviour are introduced together, students often memorise patterns without understanding why they work.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303520" cy="1645920"/>
          </a:xfrm>
          <a:prstGeom prst="roundRect">
            <a:avLst>
              <a:gd name="adj" fmla="val 4444"/>
            </a:avLst>
          </a:prstGeom>
          <a:solidFill>
            <a:srgbClr val="E6F4F2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6473952" y="1554480"/>
            <a:ext cx="4974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The teaching solution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73952" y="1847088"/>
            <a:ext cx="4974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This session isolates the Java/OOP concept. Students first understand the idea in a plain Java program, then apply it later in Spring Boot and tutorials.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70332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65D"/>
                </a:solidFill>
              </a:rPr>
              <a:t>Today is not a slide-only lecture. It is a guided coding workshop.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83080" y="4434840"/>
            <a:ext cx="86868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Predict first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Type the code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Break it deliberately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Read the error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Repair and explain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2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 for Week 01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By the end, students should be able to build and reason about simple Java objects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1042416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Refresh the Java syntax needed for OOP: types, methods, conditions and loops.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Explain the difference between a class and an object.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Create objects using constructors and the new keyword.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Use this to assign values to the current object.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Identify object state, identity and behaviour.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Move simple behaviour into a class rather than leaving all logic in main().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5212080"/>
            <a:ext cx="10058400" cy="868680"/>
          </a:xfrm>
          <a:prstGeom prst="roundRect">
            <a:avLst>
              <a:gd name="adj" fmla="val 8421"/>
            </a:avLst>
          </a:prstGeom>
          <a:solidFill>
            <a:srgbClr val="E2F0D9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7" name="Text 5"/>
          <p:cNvSpPr/>
          <p:nvPr/>
        </p:nvSpPr>
        <p:spPr>
          <a:xfrm>
            <a:off x="1170432" y="5349240"/>
            <a:ext cx="9729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Success test at the 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5641848"/>
            <a:ext cx="9729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A student should be able to create several EquipmentItem objects and explain why they are separate objects with independent state.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3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Workshop rhythm for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2 hours, with protected Q&amp;A at the end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325880" cy="530352"/>
          </a:xfrm>
          <a:prstGeom prst="rect">
            <a:avLst/>
          </a:prstGeom>
          <a:solidFill>
            <a:srgbClr val="17365D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758952" y="1472184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</a:rPr>
              <a:t>Time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2011680" y="1325880"/>
            <a:ext cx="2880360" cy="530352"/>
          </a:xfrm>
          <a:prstGeom prst="rect">
            <a:avLst/>
          </a:prstGeom>
          <a:solidFill>
            <a:srgbClr val="17365D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2084832" y="1472184"/>
            <a:ext cx="2734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</a:rPr>
              <a:t>Focus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4892040" y="1325880"/>
            <a:ext cx="6629400" cy="530352"/>
          </a:xfrm>
          <a:prstGeom prst="rect">
            <a:avLst/>
          </a:prstGeom>
          <a:solidFill>
            <a:srgbClr val="17365D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/>
          <p:nvPr/>
        </p:nvSpPr>
        <p:spPr>
          <a:xfrm>
            <a:off x="4965192" y="1472184"/>
            <a:ext cx="6483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</a:rPr>
              <a:t>Student role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85800" y="1856232"/>
            <a:ext cx="1325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/>
          <p:nvPr/>
        </p:nvSpPr>
        <p:spPr>
          <a:xfrm>
            <a:off x="758952" y="1984248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0:00–0:10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2011680" y="1856232"/>
            <a:ext cx="2880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/>
          <p:nvPr/>
        </p:nvSpPr>
        <p:spPr>
          <a:xfrm>
            <a:off x="2084832" y="1984248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Diagnostic warm-up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892040" y="1856232"/>
            <a:ext cx="6629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/>
          <p:nvPr/>
        </p:nvSpPr>
        <p:spPr>
          <a:xfrm>
            <a:off x="4965192" y="1984248"/>
            <a:ext cx="6483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Predict Java outputs individually first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85800" y="2386584"/>
            <a:ext cx="1325880" cy="530352"/>
          </a:xfrm>
          <a:prstGeom prst="rect">
            <a:avLst/>
          </a:prstGeom>
          <a:solidFill>
            <a:srgbClr val="F3F6FA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/>
          <p:nvPr/>
        </p:nvSpPr>
        <p:spPr>
          <a:xfrm>
            <a:off x="758952" y="251460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0:10–0:25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2011680" y="2386584"/>
            <a:ext cx="2880360" cy="530352"/>
          </a:xfrm>
          <a:prstGeom prst="rect">
            <a:avLst/>
          </a:prstGeom>
          <a:solidFill>
            <a:srgbClr val="F3F6FA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0" name="Text 18"/>
          <p:cNvSpPr/>
          <p:nvPr/>
        </p:nvSpPr>
        <p:spPr>
          <a:xfrm>
            <a:off x="2084832" y="2514600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Java essentials recap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892040" y="2386584"/>
            <a:ext cx="6629400" cy="530352"/>
          </a:xfrm>
          <a:prstGeom prst="rect">
            <a:avLst/>
          </a:prstGeom>
          <a:solidFill>
            <a:srgbClr val="F3F6FA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/>
          <p:nvPr/>
        </p:nvSpPr>
        <p:spPr>
          <a:xfrm>
            <a:off x="4965192" y="2514600"/>
            <a:ext cx="6483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Only what we need for OOP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85800" y="2916936"/>
            <a:ext cx="1325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4" name="Text 22"/>
          <p:cNvSpPr/>
          <p:nvPr/>
        </p:nvSpPr>
        <p:spPr>
          <a:xfrm>
            <a:off x="758952" y="3044952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0:25–0:40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2011680" y="2916936"/>
            <a:ext cx="2880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6" name="Text 24"/>
          <p:cNvSpPr/>
          <p:nvPr/>
        </p:nvSpPr>
        <p:spPr>
          <a:xfrm>
            <a:off x="2084832" y="3044952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Problem: loose data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892040" y="2916936"/>
            <a:ext cx="6629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8" name="Text 26"/>
          <p:cNvSpPr/>
          <p:nvPr/>
        </p:nvSpPr>
        <p:spPr>
          <a:xfrm>
            <a:off x="4965192" y="3044952"/>
            <a:ext cx="6483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Why variables alone do not scale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85800" y="3447288"/>
            <a:ext cx="1325880" cy="530352"/>
          </a:xfrm>
          <a:prstGeom prst="rect">
            <a:avLst/>
          </a:prstGeom>
          <a:solidFill>
            <a:srgbClr val="F3F6FA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0" name="Text 28"/>
          <p:cNvSpPr/>
          <p:nvPr/>
        </p:nvSpPr>
        <p:spPr>
          <a:xfrm>
            <a:off x="758952" y="3575304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0:40–1:10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2011680" y="3447288"/>
            <a:ext cx="2880360" cy="530352"/>
          </a:xfrm>
          <a:prstGeom prst="rect">
            <a:avLst/>
          </a:prstGeom>
          <a:solidFill>
            <a:srgbClr val="F3F6FA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2" name="Text 30"/>
          <p:cNvSpPr/>
          <p:nvPr/>
        </p:nvSpPr>
        <p:spPr>
          <a:xfrm>
            <a:off x="2084832" y="3575304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Class, object, constructor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4892040" y="3447288"/>
            <a:ext cx="6629400" cy="530352"/>
          </a:xfrm>
          <a:prstGeom prst="rect">
            <a:avLst/>
          </a:prstGeom>
          <a:solidFill>
            <a:srgbClr val="F3F6FA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4" name="Text 32"/>
          <p:cNvSpPr/>
          <p:nvPr/>
        </p:nvSpPr>
        <p:spPr>
          <a:xfrm>
            <a:off x="4965192" y="3575304"/>
            <a:ext cx="6483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Create the first EquipmentItem objects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685800" y="3977640"/>
            <a:ext cx="1325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6" name="Text 34"/>
          <p:cNvSpPr/>
          <p:nvPr/>
        </p:nvSpPr>
        <p:spPr>
          <a:xfrm>
            <a:off x="758952" y="4105656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1:10–1:40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2011680" y="3977640"/>
            <a:ext cx="2880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8" name="Text 36"/>
          <p:cNvSpPr/>
          <p:nvPr/>
        </p:nvSpPr>
        <p:spPr>
          <a:xfrm>
            <a:off x="2084832" y="4105656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Behaviour inside classes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4892040" y="3977640"/>
            <a:ext cx="6629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0" name="Text 38"/>
          <p:cNvSpPr/>
          <p:nvPr/>
        </p:nvSpPr>
        <p:spPr>
          <a:xfrm>
            <a:off x="4965192" y="4105656"/>
            <a:ext cx="6483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Add and test meaningful methods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685800" y="4507992"/>
            <a:ext cx="1325880" cy="530352"/>
          </a:xfrm>
          <a:prstGeom prst="rect">
            <a:avLst/>
          </a:prstGeom>
          <a:solidFill>
            <a:srgbClr val="F3F6FA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2" name="Text 40"/>
          <p:cNvSpPr/>
          <p:nvPr/>
        </p:nvSpPr>
        <p:spPr>
          <a:xfrm>
            <a:off x="758952" y="4636008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1:40–1:45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2011680" y="4507992"/>
            <a:ext cx="2880360" cy="530352"/>
          </a:xfrm>
          <a:prstGeom prst="rect">
            <a:avLst/>
          </a:prstGeom>
          <a:solidFill>
            <a:srgbClr val="F3F6FA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4" name="Text 42"/>
          <p:cNvSpPr/>
          <p:nvPr/>
        </p:nvSpPr>
        <p:spPr>
          <a:xfrm>
            <a:off x="2084832" y="4636008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Checkpoint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4892040" y="4507992"/>
            <a:ext cx="6629400" cy="530352"/>
          </a:xfrm>
          <a:prstGeom prst="rect">
            <a:avLst/>
          </a:prstGeom>
          <a:solidFill>
            <a:srgbClr val="F3F6FA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6" name="Text 44"/>
          <p:cNvSpPr/>
          <p:nvPr/>
        </p:nvSpPr>
        <p:spPr>
          <a:xfrm>
            <a:off x="4965192" y="4636008"/>
            <a:ext cx="6483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Explain reference vs constructed object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685800" y="5038344"/>
            <a:ext cx="13258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48" name="Text 46"/>
          <p:cNvSpPr/>
          <p:nvPr/>
        </p:nvSpPr>
        <p:spPr>
          <a:xfrm>
            <a:off x="758952" y="516636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1:45–2:00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2011680" y="5038344"/>
            <a:ext cx="28803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0" name="Text 48"/>
          <p:cNvSpPr/>
          <p:nvPr/>
        </p:nvSpPr>
        <p:spPr>
          <a:xfrm>
            <a:off x="2084832" y="5166360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Q&amp;A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4892040" y="5038344"/>
            <a:ext cx="66294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2" name="Text 50"/>
          <p:cNvSpPr/>
          <p:nvPr/>
        </p:nvSpPr>
        <p:spPr>
          <a:xfrm>
            <a:off x="4965192" y="5166360"/>
            <a:ext cx="6483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1F1F"/>
                </a:solidFill>
              </a:rPr>
              <a:t>Protected 15 minutes</a:t>
            </a:r>
            <a:endParaRPr lang="en-US" sz="1080" dirty="0"/>
          </a:p>
        </p:txBody>
      </p:sp>
      <p:sp>
        <p:nvSpPr>
          <p:cNvPr id="53" name="Text 51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4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DEE8"/>
                </a:solidFill>
              </a:rPr>
              <a:t>SECTION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Diagnostic Java Warm-Up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76656" y="24688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EAF7"/>
                </a:solidFill>
              </a:rPr>
              <a:t>Before objects, we confirm the Java foundations we will rely 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5669280"/>
            <a:ext cx="10698480" cy="0"/>
          </a:xfrm>
          <a:prstGeom prst="line">
            <a:avLst/>
          </a:prstGeom>
          <a:noFill/>
          <a:ln w="381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5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Warm-up: predict the output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Do not run this yet — reason first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5715000" cy="3840480"/>
          </a:xfrm>
          <a:prstGeom prst="roundRect">
            <a:avLst>
              <a:gd name="adj" fmla="val 1429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795528" y="1481328"/>
            <a:ext cx="5495544" cy="3621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3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quantity 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3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 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19.99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 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"Camera"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3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 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2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 x " 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quantity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 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price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20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quantity 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812280" y="1508760"/>
            <a:ext cx="4480560" cy="1828800"/>
          </a:xfrm>
          <a:prstGeom prst="roundRect">
            <a:avLst>
              <a:gd name="adj" fmla="val 4000"/>
            </a:avLst>
          </a:prstGeom>
          <a:solidFill>
            <a:srgbClr val="EAF2F8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6976872" y="1645920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Student task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76872" y="1938528"/>
            <a:ext cx="41513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Write the four outputs before discussing. Then compare with a partner and identify which lines require arithmetic reasoning and which require boolean reasoning.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370332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6976872" y="3840480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Lecturer prompt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76872" y="4133088"/>
            <a:ext cx="4151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Ask: Which line is most likely to surprise a beginner? Why?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6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 essentials: types matter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Java checks what kind of value each variable can hold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205740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397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896112" y="1490472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65D"/>
                </a:solidFill>
              </a:rPr>
              <a:t>int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801368"/>
            <a:ext cx="2057400" cy="0"/>
          </a:xfrm>
          <a:prstGeom prst="line">
            <a:avLst/>
          </a:prstGeom>
          <a:noFill/>
          <a:ln w="889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932688" y="1892808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whole numbers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660904"/>
            <a:ext cx="2057400" cy="0"/>
          </a:xfrm>
          <a:prstGeom prst="line">
            <a:avLst/>
          </a:prstGeom>
          <a:noFill/>
          <a:ln w="889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/>
          <p:nvPr/>
        </p:nvSpPr>
        <p:spPr>
          <a:xfrm>
            <a:off x="932688" y="2752344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10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-5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05740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397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/>
          <p:nvPr/>
        </p:nvSpPr>
        <p:spPr>
          <a:xfrm>
            <a:off x="3410712" y="1490472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65D"/>
                </a:solidFill>
              </a:rPr>
              <a:t>double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1801368"/>
            <a:ext cx="2057400" cy="0"/>
          </a:xfrm>
          <a:prstGeom prst="line">
            <a:avLst/>
          </a:prstGeom>
          <a:noFill/>
          <a:ln w="889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/>
          <p:nvPr/>
        </p:nvSpPr>
        <p:spPr>
          <a:xfrm>
            <a:off x="3447288" y="1892808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decimal numbers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37560" y="2660904"/>
            <a:ext cx="2057400" cy="0"/>
          </a:xfrm>
          <a:prstGeom prst="line">
            <a:avLst/>
          </a:prstGeom>
          <a:noFill/>
          <a:ln w="889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/>
          <p:nvPr/>
        </p:nvSpPr>
        <p:spPr>
          <a:xfrm>
            <a:off x="3447288" y="2752344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19.99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0.5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52160" y="1417320"/>
            <a:ext cx="205740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397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/>
          <p:nvPr/>
        </p:nvSpPr>
        <p:spPr>
          <a:xfrm>
            <a:off x="5925312" y="1490472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65D"/>
                </a:solidFill>
              </a:rPr>
              <a:t>String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52160" y="1801368"/>
            <a:ext cx="2057400" cy="0"/>
          </a:xfrm>
          <a:prstGeom prst="line">
            <a:avLst/>
          </a:prstGeom>
          <a:noFill/>
          <a:ln w="889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0" name="Text 18"/>
          <p:cNvSpPr/>
          <p:nvPr/>
        </p:nvSpPr>
        <p:spPr>
          <a:xfrm>
            <a:off x="5961888" y="1892808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text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52160" y="2660904"/>
            <a:ext cx="2057400" cy="0"/>
          </a:xfrm>
          <a:prstGeom prst="line">
            <a:avLst/>
          </a:prstGeom>
          <a:noFill/>
          <a:ln w="889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2" name="Text 20"/>
          <p:cNvSpPr/>
          <p:nvPr/>
        </p:nvSpPr>
        <p:spPr>
          <a:xfrm>
            <a:off x="5961888" y="2752344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"Laptop"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"A101"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66760" y="1417320"/>
            <a:ext cx="2057400" cy="173736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397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4" name="Text 22"/>
          <p:cNvSpPr/>
          <p:nvPr/>
        </p:nvSpPr>
        <p:spPr>
          <a:xfrm>
            <a:off x="8439912" y="1490472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65D"/>
                </a:solidFill>
              </a:rPr>
              <a:t>boolean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66760" y="1801368"/>
            <a:ext cx="2057400" cy="0"/>
          </a:xfrm>
          <a:prstGeom prst="line">
            <a:avLst/>
          </a:prstGeom>
          <a:noFill/>
          <a:ln w="889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6" name="Text 24"/>
          <p:cNvSpPr/>
          <p:nvPr/>
        </p:nvSpPr>
        <p:spPr>
          <a:xfrm>
            <a:off x="8476488" y="1892808"/>
            <a:ext cx="1837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true / false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66760" y="2660904"/>
            <a:ext cx="2057400" cy="0"/>
          </a:xfrm>
          <a:prstGeom prst="line">
            <a:avLst/>
          </a:prstGeom>
          <a:noFill/>
          <a:ln w="889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8" name="Text 26"/>
          <p:cNvSpPr/>
          <p:nvPr/>
        </p:nvSpPr>
        <p:spPr>
          <a:xfrm>
            <a:off x="8476488" y="2752344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true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false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4400" y="3886200"/>
            <a:ext cx="10241280" cy="868680"/>
          </a:xfrm>
          <a:prstGeom prst="roundRect">
            <a:avLst>
              <a:gd name="adj" fmla="val 8421"/>
            </a:avLst>
          </a:prstGeom>
          <a:solidFill>
            <a:srgbClr val="E6F4F2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0" name="Text 28"/>
          <p:cNvSpPr/>
          <p:nvPr/>
        </p:nvSpPr>
        <p:spPr>
          <a:xfrm>
            <a:off x="1078992" y="4023360"/>
            <a:ext cx="9912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Core point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8992" y="4315968"/>
            <a:ext cx="9912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Types are not decoration. They let the compiler reject impossible or unsafe operations before the program runs.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188720" y="4983480"/>
            <a:ext cx="9418320" cy="100584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33" name="Text 31"/>
          <p:cNvSpPr/>
          <p:nvPr/>
        </p:nvSpPr>
        <p:spPr>
          <a:xfrm>
            <a:off x="1298448" y="5093208"/>
            <a:ext cx="9198864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quantity 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replacementCost 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85000.00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itemName 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"Dell Laptop"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2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 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5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2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7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 essentials: methods organise logic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A method should do one clear job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5852160" cy="4160520"/>
          </a:xfrm>
          <a:prstGeom prst="roundRect">
            <a:avLst>
              <a:gd name="adj" fmla="val 1319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795528" y="1435608"/>
            <a:ext cx="5632704" cy="3941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2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calculateLateFee</a:t>
            </a:r>
            <a:r>
              <a:rPr lang="en-US" sz="12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daysLate</a:t>
            </a:r>
            <a:r>
              <a:rPr lang="en-US" sz="12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</a:t>
            </a:r>
            <a:r>
              <a:rPr lang="en-US" sz="12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dailyRate</a:t>
            </a:r>
            <a:r>
              <a:rPr lang="en-US" sz="12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daysLate </a:t>
            </a:r>
            <a:r>
              <a:rPr lang="en-US" sz="12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dailyRate</a:t>
            </a:r>
            <a:r>
              <a:rPr lang="en-US" sz="12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2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// Calling the method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26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fee </a:t>
            </a:r>
            <a:r>
              <a:rPr lang="en-US" sz="12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calculateLateFee</a:t>
            </a:r>
            <a:r>
              <a:rPr lang="en-US" sz="12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2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2.50</a:t>
            </a:r>
            <a:r>
              <a:rPr lang="en-US" sz="12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2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2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</a:t>
            </a:r>
            <a:r>
              <a:rPr lang="en-US" sz="12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60" dirty="0"/>
          </a:p>
        </p:txBody>
      </p:sp>
      <p:sp>
        <p:nvSpPr>
          <p:cNvPr id="7" name="Shape 5"/>
          <p:cNvSpPr/>
          <p:nvPr/>
        </p:nvSpPr>
        <p:spPr>
          <a:xfrm>
            <a:off x="6812280" y="141732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EAF2F8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6976872" y="1554480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Read the method signature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76872" y="1847088"/>
            <a:ext cx="4151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public static double calculateLateFee(int daysLate, double dailyRate)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03720" y="2606040"/>
            <a:ext cx="425196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1F1F"/>
                </a:solidFill>
              </a:rPr>
              <a:t>Return type: double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1F1F"/>
                </a:solidFill>
              </a:rPr>
              <a:t>Name: calculateLateFee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1F1F"/>
                </a:solidFill>
              </a:rPr>
              <a:t>Parameters: values passed in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1F1F"/>
                </a:solidFill>
              </a:rPr>
              <a:t>return: value produced by the method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812280" y="4800600"/>
            <a:ext cx="4480560" cy="73152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/>
          <p:nvPr/>
        </p:nvSpPr>
        <p:spPr>
          <a:xfrm>
            <a:off x="6976872" y="4937760"/>
            <a:ext cx="4151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Question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76872" y="5230368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What should happen if daysLate is 0?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8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 essentials: control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Programs choose and repeat actions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5852160" cy="4434840"/>
          </a:xfrm>
          <a:prstGeom prst="roundRect">
            <a:avLst>
              <a:gd name="adj" fmla="val 1237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795528" y="1435608"/>
            <a:ext cx="5632704" cy="421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2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replacementCost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100000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 value item"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"Standard item"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2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"Check "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903720" y="1417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65D"/>
                </a:solidFill>
              </a:rPr>
              <a:t>Two key questions: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95160" y="1901952"/>
            <a:ext cx="39319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Which branch runs?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How many times does the loop repeat?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12280" y="3246120"/>
            <a:ext cx="4389120" cy="1417320"/>
          </a:xfrm>
          <a:prstGeom prst="roundRect">
            <a:avLst>
              <a:gd name="adj" fmla="val 5161"/>
            </a:avLst>
          </a:prstGeom>
          <a:solidFill>
            <a:srgbClr val="E6F4F2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/>
          <p:nvPr/>
        </p:nvSpPr>
        <p:spPr>
          <a:xfrm>
            <a:off x="6976872" y="3383280"/>
            <a:ext cx="4059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Workshop habit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76872" y="3675888"/>
            <a:ext cx="4059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Before running code, students should predict control flow. This habit becomes essential when debugging object methods later.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9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Mini-task: turn rules into code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Five minutes, then compare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5D"/>
                </a:solidFill>
              </a:rPr>
              <a:t>Rule: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57400" y="138988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If an equipment item costs more than 100,000, print "High value". Otherwise, print "Standard".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057400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1024128" y="2167128"/>
            <a:ext cx="4718304" cy="1197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3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replacementCost 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85000.00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// TODO: write the if/else here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0" y="2148840"/>
            <a:ext cx="4434840" cy="1005840"/>
          </a:xfrm>
          <a:prstGeom prst="roundRect">
            <a:avLst>
              <a:gd name="adj" fmla="val 7273"/>
            </a:avLst>
          </a:prstGeom>
          <a:solidFill>
            <a:srgbClr val="FFF2CC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/>
          <p:nvPr/>
        </p:nvSpPr>
        <p:spPr>
          <a:xfrm>
            <a:off x="6565392" y="2286000"/>
            <a:ext cx="4105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Extension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65392" y="2578608"/>
            <a:ext cx="4105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Change the value to 125000.00 and predict the output before running again.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206240"/>
            <a:ext cx="9921240" cy="9144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/>
          <p:nvPr/>
        </p:nvSpPr>
        <p:spPr>
          <a:xfrm>
            <a:off x="1078992" y="4343400"/>
            <a:ext cx="9592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Why this matters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" y="4636008"/>
            <a:ext cx="9592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Object methods are built from the same basics: values, decisions, loops and return statements.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10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DEE8"/>
                </a:solidFill>
              </a:rPr>
              <a:t>SECTION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Before Objects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76656" y="24688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EAF7"/>
                </a:solidFill>
              </a:rPr>
              <a:t>Why loose variables become unmanageable when a system grows.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5669280"/>
            <a:ext cx="10698480" cy="0"/>
          </a:xfrm>
          <a:prstGeom prst="line">
            <a:avLst/>
          </a:prstGeom>
          <a:noFill/>
          <a:ln w="381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11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starting point: loose variables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This works for one item — barely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5715000" cy="3794760"/>
          </a:xfrm>
          <a:prstGeom prst="roundRect">
            <a:avLst>
              <a:gd name="adj" fmla="val 1446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795528" y="1389888"/>
            <a:ext cx="5495544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3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 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101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 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"Dell Laptop"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3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replacementCost 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185000.00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3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 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replacementCost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12280" y="1463040"/>
            <a:ext cx="4434840" cy="1371600"/>
          </a:xfrm>
          <a:prstGeom prst="roundRect">
            <a:avLst>
              <a:gd name="adj" fmla="val 5333"/>
            </a:avLst>
          </a:prstGeom>
          <a:solidFill>
            <a:srgbClr val="EAF2F8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6976872" y="1600200"/>
            <a:ext cx="4105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What is the hidden problem?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76872" y="1892808"/>
            <a:ext cx="4105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These four variables belong together, but Java does not know that. Any method that needs the item must receive or find four separate values.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3291840"/>
            <a:ext cx="4434840" cy="868680"/>
          </a:xfrm>
          <a:prstGeom prst="roundRect">
            <a:avLst>
              <a:gd name="adj" fmla="val 8421"/>
            </a:avLst>
          </a:prstGeom>
          <a:solidFill>
            <a:srgbClr val="FFF2CC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6976872" y="3429000"/>
            <a:ext cx="4105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Ask the room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76872" y="3721608"/>
            <a:ext cx="4105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What happens when the university owns 500 equipment items?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12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Now add three items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The pattern starts to collapse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594360" y="1188720"/>
            <a:ext cx="6309360" cy="4754880"/>
          </a:xfrm>
          <a:prstGeom prst="roundRect">
            <a:avLst>
              <a:gd name="adj" fmla="val 1154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704088" y="1298448"/>
            <a:ext cx="6089904" cy="4535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0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id1 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101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name1 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"Dell Laptop"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0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cost1 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185000.00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0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available1 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4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0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id2 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102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name2 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"Canon Camera"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0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cost2 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120000.00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0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available2 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4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0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id3 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103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name3 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"Tripod"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0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cost3 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15000.00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0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available3 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4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0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7360920" y="1325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65D"/>
                </a:solidFill>
              </a:rPr>
              <a:t>Problems: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52360" y="1874520"/>
            <a:ext cx="397764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1F1F"/>
                </a:solidFill>
              </a:rPr>
              <a:t>Variable naming becomes artificial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1F1F"/>
                </a:solidFill>
              </a:rPr>
              <a:t>No single value means “one item”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1F1F"/>
                </a:solidFill>
              </a:rPr>
              <a:t>Adding behaviour means repeated code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1F1F"/>
                </a:solidFill>
              </a:rPr>
              <a:t>Finding one item later is difficult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F1F1F"/>
                </a:solidFill>
              </a:rPr>
              <a:t>The compiler cannot protect the group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13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object-oriented move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Create a type that represents the concept directly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65D"/>
                </a:solidFill>
              </a:rPr>
              <a:t>Instead of: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4297680" cy="13716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7" name="Text 5"/>
          <p:cNvSpPr/>
          <p:nvPr/>
        </p:nvSpPr>
        <p:spPr>
          <a:xfrm>
            <a:off x="932688" y="1892808"/>
            <a:ext cx="4078224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3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name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3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replacementCost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3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0" y="1325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65D"/>
                </a:solidFill>
              </a:rPr>
              <a:t>We define: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92240" y="1783080"/>
            <a:ext cx="4297680" cy="731520"/>
          </a:xfrm>
          <a:prstGeom prst="roundRect">
            <a:avLst>
              <a:gd name="adj" fmla="val 7500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/>
          <p:nvPr/>
        </p:nvSpPr>
        <p:spPr>
          <a:xfrm>
            <a:off x="6601968" y="1892808"/>
            <a:ext cx="407822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EquipmentItem item</a:t>
            </a: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49240" y="2377440"/>
            <a:ext cx="822960" cy="0"/>
          </a:xfrm>
          <a:prstGeom prst="line">
            <a:avLst/>
          </a:prstGeom>
          <a:noFill/>
          <a:ln w="38100">
            <a:solidFill>
              <a:srgbClr val="0085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LK"/>
          </a:p>
        </p:txBody>
      </p:sp>
      <p:sp>
        <p:nvSpPr>
          <p:cNvPr id="12" name="Shape 10"/>
          <p:cNvSpPr/>
          <p:nvPr/>
        </p:nvSpPr>
        <p:spPr>
          <a:xfrm>
            <a:off x="1234440" y="4069080"/>
            <a:ext cx="9692640" cy="914400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/>
          <p:nvPr/>
        </p:nvSpPr>
        <p:spPr>
          <a:xfrm>
            <a:off x="1399032" y="4206240"/>
            <a:ext cx="9363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Key idea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99032" y="4498848"/>
            <a:ext cx="9363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A class lets us create a new Java type that groups related state and behaviour into one concept.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14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DEE8"/>
                </a:solidFill>
              </a:rPr>
              <a:t>SECTION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Classes and Objects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76656" y="24688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EAF7"/>
                </a:solidFill>
              </a:rPr>
              <a:t>A class is the blueprint; an object is one actual thing built from 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5669280"/>
            <a:ext cx="10698480" cy="0"/>
          </a:xfrm>
          <a:prstGeom prst="line">
            <a:avLst/>
          </a:prstGeom>
          <a:noFill/>
          <a:ln w="381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15</a:t>
            </a:r>
            <a:endParaRPr lang="en-US" sz="7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Define the class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The class is the blueprint for equipment items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5212080" cy="2926080"/>
          </a:xfrm>
          <a:prstGeom prst="roundRect">
            <a:avLst>
              <a:gd name="adj" fmla="val 1875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795528" y="1435608"/>
            <a:ext cx="4992624" cy="2706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 </a:t>
            </a:r>
            <a:r>
              <a:rPr lang="en-US" sz="14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4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4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</a:t>
            </a:r>
            <a:r>
              <a:rPr lang="en-US" sz="14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replacementCost</a:t>
            </a:r>
            <a:r>
              <a:rPr lang="en-US" sz="14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4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</a:t>
            </a:r>
            <a:r>
              <a:rPr lang="en-US" sz="14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20" dirty="0"/>
          </a:p>
        </p:txBody>
      </p:sp>
      <p:sp>
        <p:nvSpPr>
          <p:cNvPr id="7" name="Shape 5"/>
          <p:cNvSpPr/>
          <p:nvPr/>
        </p:nvSpPr>
        <p:spPr>
          <a:xfrm>
            <a:off x="6812280" y="1417320"/>
            <a:ext cx="3474720" cy="2468880"/>
          </a:xfrm>
          <a:prstGeom prst="roundRect">
            <a:avLst>
              <a:gd name="adj" fmla="val 1852"/>
            </a:avLst>
          </a:prstGeom>
          <a:solidFill>
            <a:srgbClr val="EAF2F8"/>
          </a:solidFill>
          <a:ln w="1397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6885432" y="1490472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65D"/>
                </a:solidFill>
              </a:rPr>
              <a:t>EquipmentItem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12280" y="1801368"/>
            <a:ext cx="3474720" cy="0"/>
          </a:xfrm>
          <a:prstGeom prst="line">
            <a:avLst/>
          </a:prstGeom>
          <a:noFill/>
          <a:ln w="889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/>
          <p:nvPr/>
        </p:nvSpPr>
        <p:spPr>
          <a:xfrm>
            <a:off x="6922008" y="1892808"/>
            <a:ext cx="3255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id : long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name : String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replacementCost : double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available : boolean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12280" y="2660904"/>
            <a:ext cx="3474720" cy="0"/>
          </a:xfrm>
          <a:prstGeom prst="line">
            <a:avLst/>
          </a:prstGeom>
          <a:noFill/>
          <a:ln w="889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/>
          <p:nvPr/>
        </p:nvSpPr>
        <p:spPr>
          <a:xfrm>
            <a:off x="6922008" y="2752344"/>
            <a:ext cx="3255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methods will come later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480060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FF2CC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/>
          <p:nvPr/>
        </p:nvSpPr>
        <p:spPr>
          <a:xfrm>
            <a:off x="1078992" y="4937760"/>
            <a:ext cx="9637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Important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8992" y="5230368"/>
            <a:ext cx="9637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At this point we have defined a type. We have not yet created an actual equipment item.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16</a:t>
            </a:r>
            <a:endParaRPr lang="en-US" sz="7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Create objects from the class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Each object is an independent instance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760720" cy="4389120"/>
          </a:xfrm>
          <a:prstGeom prst="roundRect">
            <a:avLst>
              <a:gd name="adj" fmla="val 1250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795528" y="1344168"/>
            <a:ext cx="5541264" cy="4169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EquipmentItem laptop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laptop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101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laptop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"Dell Laptop"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laptop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replacementCost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185000.00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laptop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2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EquipmentItem camera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102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"Canon Camera"</a:t>
            </a:r>
            <a:r>
              <a:rPr lang="en-US" sz="12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949440" y="164592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E6F4F2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7059168" y="173736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laptop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59168" y="1993392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id=101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name=Dell Laptop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available=true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098280" y="306324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EAF2F8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9208008" y="315468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camera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208008" y="3410712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id=102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name=Canon Camera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available=true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40880" y="48463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65D"/>
                </a:solidFill>
              </a:rPr>
              <a:t>Two objects. One class.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17</a:t>
            </a:r>
            <a:endParaRPr lang="en-US" sz="7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versus object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Do not confuse the blueprint with the instance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2971800" cy="2788920"/>
          </a:xfrm>
          <a:prstGeom prst="roundRect">
            <a:avLst>
              <a:gd name="adj" fmla="val 1639"/>
            </a:avLst>
          </a:prstGeom>
          <a:solidFill>
            <a:srgbClr val="EAF2F8"/>
          </a:solidFill>
          <a:ln w="1397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896112" y="1490472"/>
            <a:ext cx="2825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65D"/>
                </a:solidFill>
              </a:rPr>
              <a:t>EquipmentItem class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801368"/>
            <a:ext cx="2971800" cy="0"/>
          </a:xfrm>
          <a:prstGeom prst="line">
            <a:avLst/>
          </a:prstGeom>
          <a:noFill/>
          <a:ln w="889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932688" y="1892808"/>
            <a:ext cx="2752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defines fields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defines methods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660904"/>
            <a:ext cx="2971800" cy="0"/>
          </a:xfrm>
          <a:prstGeom prst="line">
            <a:avLst/>
          </a:prstGeom>
          <a:noFill/>
          <a:ln w="889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/>
          <p:nvPr/>
        </p:nvSpPr>
        <p:spPr>
          <a:xfrm>
            <a:off x="932688" y="2752344"/>
            <a:ext cx="27523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used to create objects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23360" y="2788920"/>
            <a:ext cx="914400" cy="0"/>
          </a:xfrm>
          <a:prstGeom prst="line">
            <a:avLst/>
          </a:prstGeom>
          <a:noFill/>
          <a:ln w="38100">
            <a:solidFill>
              <a:srgbClr val="00857A"/>
            </a:solidFill>
            <a:prstDash val="solid"/>
            <a:tailEnd type="triangle"/>
          </a:ln>
        </p:spPr>
        <p:txBody>
          <a:bodyPr/>
          <a:lstStyle/>
          <a:p>
            <a:endParaRPr lang="en-LK"/>
          </a:p>
        </p:txBody>
      </p:sp>
      <p:sp>
        <p:nvSpPr>
          <p:cNvPr id="12" name="Shape 10"/>
          <p:cNvSpPr/>
          <p:nvPr/>
        </p:nvSpPr>
        <p:spPr>
          <a:xfrm>
            <a:off x="5212080" y="141732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/>
          <p:nvPr/>
        </p:nvSpPr>
        <p:spPr>
          <a:xfrm>
            <a:off x="5321808" y="150876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object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21808" y="1764792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Dell Laptop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185000.00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available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18120" y="265176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/>
          <p:nvPr/>
        </p:nvSpPr>
        <p:spPr>
          <a:xfrm>
            <a:off x="7927848" y="274320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object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27848" y="2999232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Canon Camera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120000.00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available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5156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65D"/>
                </a:solidFill>
              </a:rPr>
              <a:t>One blueprint can produce many independent objects.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18</a:t>
            </a:r>
            <a:endParaRPr lang="en-US" sz="7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Constructors: initialise the object properly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A constructor runs when new is used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6309360" cy="4983480"/>
          </a:xfrm>
          <a:prstGeom prst="roundRect">
            <a:avLst>
              <a:gd name="adj" fmla="val 1101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704088" y="1252728"/>
            <a:ext cx="6089904" cy="4764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 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replacementCost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name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replacementCost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replacementCost 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replacementCost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7315200" y="150876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EAF2F8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7479792" y="1645920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Constructor job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79792" y="193852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Set up the new object so it starts life with meaningful state.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0" y="260604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7479792" y="2743200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Naming rule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9792" y="3035808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The constructor name must match the class name and has no return type.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3977640"/>
            <a:ext cx="3749040" cy="1097280"/>
          </a:xfrm>
          <a:prstGeom prst="roundRect">
            <a:avLst>
              <a:gd name="adj" fmla="val 6667"/>
            </a:avLst>
          </a:prstGeom>
          <a:solidFill>
            <a:srgbClr val="E6F4F2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/>
          <p:nvPr/>
        </p:nvSpPr>
        <p:spPr>
          <a:xfrm>
            <a:off x="7479792" y="4114800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Why this matters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79792" y="4407408"/>
            <a:ext cx="3419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Without a constructor, external code may create incomplete objects and then fill fields later.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19</a:t>
            </a:r>
            <a:endParaRPr lang="en-US" sz="7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this keyword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this means “this current object”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5715000" cy="2834640"/>
          </a:xfrm>
          <a:prstGeom prst="roundRect">
            <a:avLst>
              <a:gd name="adj" fmla="val 1935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795528" y="1481328"/>
            <a:ext cx="5495544" cy="2615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replacementCost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replacementCost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replacementCost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12280" y="1554480"/>
            <a:ext cx="4343400" cy="868680"/>
          </a:xfrm>
          <a:prstGeom prst="roundRect">
            <a:avLst>
              <a:gd name="adj" fmla="val 8421"/>
            </a:avLst>
          </a:prstGeom>
          <a:solidFill>
            <a:srgbClr val="EAF2F8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6976872" y="1691640"/>
            <a:ext cx="4014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Left side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76872" y="1984248"/>
            <a:ext cx="4014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this.id means the id field inside the current object.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2651760"/>
            <a:ext cx="4343400" cy="868680"/>
          </a:xfrm>
          <a:prstGeom prst="roundRect">
            <a:avLst>
              <a:gd name="adj" fmla="val 8421"/>
            </a:avLst>
          </a:prstGeom>
          <a:solidFill>
            <a:srgbClr val="E6F4F2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6976872" y="2788920"/>
            <a:ext cx="4014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Right side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76872" y="3081528"/>
            <a:ext cx="4014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id means the constructor parameter received from outside.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48920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365D"/>
                </a:solidFill>
              </a:rPr>
              <a:t>this.field = parameter;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20</a:t>
            </a:r>
            <a:endParaRPr lang="en-US" sz="7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Using new with the constructor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new creates an object and calls the constructor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5943600" cy="4206240"/>
          </a:xfrm>
          <a:prstGeom prst="roundRect">
            <a:avLst>
              <a:gd name="adj" fmla="val 1304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795528" y="1344168"/>
            <a:ext cx="5724144" cy="3986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EquipmentItem laptop </a:t>
            </a:r>
            <a:r>
              <a:rPr lang="en-US" sz="13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1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</a:t>
            </a:r>
            <a:r>
              <a:rPr lang="en-US" sz="13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101</a:t>
            </a:r>
            <a:r>
              <a:rPr lang="en-US" sz="13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"Dell Laptop"</a:t>
            </a:r>
            <a:r>
              <a:rPr lang="en-US" sz="13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185000.00</a:t>
            </a:r>
            <a:r>
              <a:rPr lang="en-US" sz="13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1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EquipmentItem camera </a:t>
            </a:r>
            <a:r>
              <a:rPr lang="en-US" sz="13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1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</a:t>
            </a:r>
            <a:r>
              <a:rPr lang="en-US" sz="13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102</a:t>
            </a:r>
            <a:r>
              <a:rPr lang="en-US" sz="13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"Canon Camera"</a:t>
            </a:r>
            <a:r>
              <a:rPr lang="en-US" sz="13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120000.00</a:t>
            </a:r>
            <a:r>
              <a:rPr lang="en-US" sz="13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1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31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1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1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10" dirty="0"/>
          </a:p>
        </p:txBody>
      </p:sp>
      <p:sp>
        <p:nvSpPr>
          <p:cNvPr id="7" name="Shape 5"/>
          <p:cNvSpPr/>
          <p:nvPr/>
        </p:nvSpPr>
        <p:spPr>
          <a:xfrm>
            <a:off x="7086600" y="160020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E6F4F2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7196328" y="169164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laptop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96328" y="1947672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id=101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name=Dell Laptop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cost=185000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778240" y="3246120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EAF2F8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8887968" y="333756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camera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87968" y="3593592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id=102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name=Canon Camera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cost=120000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86600" y="4892040"/>
            <a:ext cx="3794760" cy="685800"/>
          </a:xfrm>
          <a:prstGeom prst="roundRect">
            <a:avLst>
              <a:gd name="adj" fmla="val 10667"/>
            </a:avLst>
          </a:prstGeom>
          <a:solidFill>
            <a:srgbClr val="FFF2CC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/>
          <p:nvPr/>
        </p:nvSpPr>
        <p:spPr>
          <a:xfrm>
            <a:off x="7251192" y="5029200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Predict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51192" y="5321808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If we change laptop.name later, what happens to camera.name?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21</a:t>
            </a:r>
            <a:endParaRPr lang="en-US" sz="7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State, identity and behaviour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Three words students must use correctly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EAF2F8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896112" y="150876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State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1801368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The data an object currently holds. Example: id, name, replacementCost, available.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3716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E6F4F2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4599432" y="150876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Identity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9432" y="1801368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The object itself. Two objects can have identical field values but still be two separate objects.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E2F0D9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/>
          <p:nvPr/>
        </p:nvSpPr>
        <p:spPr>
          <a:xfrm>
            <a:off x="8302752" y="150876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Behaviour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2752" y="1801368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What the object can do through methods. Example: display details, calculate fee, check availability.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886200"/>
            <a:ext cx="10241280" cy="1234440"/>
          </a:xfrm>
          <a:prstGeom prst="roundRect">
            <a:avLst>
              <a:gd name="adj" fmla="val 4444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/>
          <p:nvPr/>
        </p:nvSpPr>
        <p:spPr>
          <a:xfrm>
            <a:off x="1024128" y="3995928"/>
            <a:ext cx="10021824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3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EquipmentItem a </a:t>
            </a:r>
            <a:r>
              <a:rPr lang="en-US" sz="13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</a:t>
            </a:r>
            <a:r>
              <a:rPr lang="en-US" sz="13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r>
              <a:rPr lang="en-US" sz="13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"Laptop"</a:t>
            </a:r>
            <a:r>
              <a:rPr lang="en-US" sz="13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185000</a:t>
            </a:r>
            <a:r>
              <a:rPr lang="en-US" sz="13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3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3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EquipmentItem b </a:t>
            </a:r>
            <a:r>
              <a:rPr lang="en-US" sz="13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</a:t>
            </a:r>
            <a:r>
              <a:rPr lang="en-US" sz="13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r>
              <a:rPr lang="en-US" sz="13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"Laptop"</a:t>
            </a:r>
            <a:r>
              <a:rPr lang="en-US" sz="13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185000</a:t>
            </a:r>
            <a:r>
              <a:rPr lang="en-US" sz="13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3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3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3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3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3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// Same data values, but not the same object.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22</a:t>
            </a:r>
            <a:endParaRPr lang="en-US" sz="7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variables point to objects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A variable can hold a reference to an object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5943600" cy="2651760"/>
          </a:xfrm>
          <a:prstGeom prst="roundRect">
            <a:avLst>
              <a:gd name="adj" fmla="val 2069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795528" y="1435608"/>
            <a:ext cx="5724144" cy="2432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EquipmentItem item1 </a:t>
            </a:r>
            <a:r>
              <a:rPr lang="en-US" sz="13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8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</a:t>
            </a:r>
            <a:r>
              <a:rPr lang="en-US" sz="13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r>
              <a:rPr lang="en-US" sz="13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"Laptop"</a:t>
            </a:r>
            <a:r>
              <a:rPr lang="en-US" sz="13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185000</a:t>
            </a:r>
            <a:r>
              <a:rPr lang="en-US" sz="13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8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EquipmentItem item2 </a:t>
            </a:r>
            <a:r>
              <a:rPr lang="en-US" sz="13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item1</a:t>
            </a:r>
            <a:r>
              <a:rPr lang="en-US" sz="13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item2</a:t>
            </a:r>
            <a:r>
              <a:rPr lang="en-US" sz="13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</a:t>
            </a:r>
            <a:r>
              <a:rPr lang="en-US" sz="13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"Updated Laptop"</a:t>
            </a:r>
            <a:r>
              <a:rPr lang="en-US" sz="13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8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3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3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item1</a:t>
            </a:r>
            <a:r>
              <a:rPr lang="en-US" sz="13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8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80" dirty="0"/>
          </a:p>
        </p:txBody>
      </p:sp>
      <p:sp>
        <p:nvSpPr>
          <p:cNvPr id="7" name="Text 5"/>
          <p:cNvSpPr/>
          <p:nvPr/>
        </p:nvSpPr>
        <p:spPr>
          <a:xfrm>
            <a:off x="7086600" y="13716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65D"/>
                </a:solidFill>
              </a:rPr>
              <a:t>Predict before running: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086600" y="182880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2CC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7251192" y="1965960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Question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51192" y="2258568"/>
            <a:ext cx="3602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What prints: "Laptop" or "Updated Laptop"?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78040" y="3154680"/>
            <a:ext cx="1508760" cy="502920"/>
          </a:xfrm>
          <a:prstGeom prst="roundRect">
            <a:avLst>
              <a:gd name="adj" fmla="val 9091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/>
          <p:nvPr/>
        </p:nvSpPr>
        <p:spPr>
          <a:xfrm>
            <a:off x="7315200" y="33101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65D"/>
                </a:solidFill>
              </a:rPr>
              <a:t>item1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78040" y="4069080"/>
            <a:ext cx="1508760" cy="502920"/>
          </a:xfrm>
          <a:prstGeom prst="roundRect">
            <a:avLst>
              <a:gd name="adj" fmla="val 9091"/>
            </a:avLst>
          </a:prstGeom>
          <a:solidFill>
            <a:srgbClr val="EAF2F8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/>
          <p:nvPr/>
        </p:nvSpPr>
        <p:spPr>
          <a:xfrm>
            <a:off x="7315200" y="422452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65D"/>
                </a:solidFill>
              </a:rPr>
              <a:t>item2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732520" y="3401568"/>
            <a:ext cx="1097280" cy="548640"/>
          </a:xfrm>
          <a:prstGeom prst="line">
            <a:avLst/>
          </a:prstGeom>
          <a:noFill/>
          <a:ln w="25400">
            <a:solidFill>
              <a:srgbClr val="00857A"/>
            </a:solidFill>
            <a:prstDash val="solid"/>
            <a:tailEnd type="triangle"/>
          </a:ln>
        </p:spPr>
        <p:txBody>
          <a:bodyPr/>
          <a:lstStyle/>
          <a:p>
            <a:endParaRPr lang="en-LK"/>
          </a:p>
        </p:txBody>
      </p:sp>
      <p:sp>
        <p:nvSpPr>
          <p:cNvPr id="16" name="Shape 14"/>
          <p:cNvSpPr/>
          <p:nvPr/>
        </p:nvSpPr>
        <p:spPr>
          <a:xfrm>
            <a:off x="8732520" y="4315968"/>
            <a:ext cx="1097280" cy="0"/>
          </a:xfrm>
          <a:prstGeom prst="line">
            <a:avLst/>
          </a:prstGeom>
          <a:noFill/>
          <a:ln w="25400">
            <a:solidFill>
              <a:srgbClr val="00857A"/>
            </a:solidFill>
            <a:prstDash val="solid"/>
            <a:tailEnd type="triangle"/>
          </a:ln>
        </p:spPr>
        <p:txBody>
          <a:bodyPr/>
          <a:lstStyle/>
          <a:p>
            <a:endParaRPr lang="en-LK"/>
          </a:p>
        </p:txBody>
      </p:sp>
      <p:sp>
        <p:nvSpPr>
          <p:cNvPr id="17" name="Shape 15"/>
          <p:cNvSpPr/>
          <p:nvPr/>
        </p:nvSpPr>
        <p:spPr>
          <a:xfrm>
            <a:off x="9829800" y="3310128"/>
            <a:ext cx="21945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/>
          <p:nvPr/>
        </p:nvSpPr>
        <p:spPr>
          <a:xfrm>
            <a:off x="9939528" y="3401568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one object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939528" y="3657600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id=101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name=Updated Laptop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23</a:t>
            </a:r>
            <a:endParaRPr lang="en-US" sz="7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DEE8"/>
                </a:solidFill>
              </a:rPr>
              <a:t>SECTION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Putting Behaviour in the Class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76656" y="2468880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9EAF7"/>
                </a:solidFill>
              </a:rPr>
              <a:t>An object should not only store data; it should answer useful questions and perform meaningful actions.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5669280"/>
            <a:ext cx="10698480" cy="0"/>
          </a:xfrm>
          <a:prstGeom prst="line">
            <a:avLst/>
          </a:prstGeom>
          <a:noFill/>
          <a:ln w="381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24</a:t>
            </a:r>
            <a:endParaRPr lang="en-US" sz="7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Poor design: all logic outside the object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The object becomes only a bag of data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6126480" cy="3291840"/>
          </a:xfrm>
          <a:prstGeom prst="roundRect">
            <a:avLst>
              <a:gd name="adj" fmla="val 1667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795528" y="1435608"/>
            <a:ext cx="5907024" cy="3072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EquipmentItem laptop 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"Laptop"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185000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2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3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daysLate 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3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fee 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daysLate 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2.50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3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laptop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replacementCost 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100000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 value item"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3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3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7132320" y="1600200"/>
            <a:ext cx="4160520" cy="1463040"/>
          </a:xfrm>
          <a:prstGeom prst="roundRect">
            <a:avLst>
              <a:gd name="adj" fmla="val 5000"/>
            </a:avLst>
          </a:prstGeom>
          <a:solidFill>
            <a:srgbClr val="FCE4D6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7296912" y="173736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96912" y="2029968"/>
            <a:ext cx="3831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The rules about equipment are scattered outside the EquipmentItem class. If another part of the program needs the same rule, the code is copied.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0" y="374904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E6F4F2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7296912" y="3886200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OOP response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96912" y="4178808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Move item-related behaviour into EquipmentItem.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25</a:t>
            </a:r>
            <a:endParaRPr lang="en-US" sz="7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Better: methods inside EquipmentItem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Behaviour lives with the state it uses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6400800" cy="4114800"/>
          </a:xfrm>
          <a:prstGeom prst="roundRect">
            <a:avLst>
              <a:gd name="adj" fmla="val 1333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795528" y="1344168"/>
            <a:ext cx="6181344" cy="3895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2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displayDetails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 - " 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
</a:t>
            </a:r>
            <a:r>
              <a:rPr lang="en-US" sz="12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 (£" 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replacementCost 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")"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2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calculateLateFee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daysLate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daysLate 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2.50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2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isExpensive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threshold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replacementCost 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threshold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2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7360920" y="1645920"/>
            <a:ext cx="3886200" cy="1234440"/>
          </a:xfrm>
          <a:prstGeom prst="roundRect">
            <a:avLst>
              <a:gd name="adj" fmla="val 5926"/>
            </a:avLst>
          </a:prstGeom>
          <a:solidFill>
            <a:srgbClr val="EAF2F8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7525512" y="1783080"/>
            <a:ext cx="3557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Design 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25512" y="2075688"/>
            <a:ext cx="35570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The object can now answer useful questions about itself. Other code asks the object instead of duplicating its rules.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60920" y="365760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7525512" y="3794760"/>
            <a:ext cx="3557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Ask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25512" y="4087368"/>
            <a:ext cx="3557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Which method returns a value? Which method only performs an action?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26</a:t>
            </a:r>
            <a:endParaRPr lang="en-US" sz="7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 anatomy inside a class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Same method structure, now operating on object state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868680" y="1280160"/>
            <a:ext cx="4846320" cy="1325880"/>
          </a:xfrm>
          <a:prstGeom prst="roundRect">
            <a:avLst>
              <a:gd name="adj" fmla="val 4138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978408" y="1389888"/>
            <a:ext cx="4626864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6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calculateLateFee</a:t>
            </a: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daysLate</a:t>
            </a: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6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daysLate </a:t>
            </a: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2.50</a:t>
            </a: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6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234440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EAF2F8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6428232" y="1371600"/>
            <a:ext cx="4197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public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28232" y="1664208"/>
            <a:ext cx="4197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Can be called from outside the class. Week 2 will refine this idea with encapsulation.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057400"/>
            <a:ext cx="4526280" cy="594360"/>
          </a:xfrm>
          <a:prstGeom prst="roundRect">
            <a:avLst>
              <a:gd name="adj" fmla="val 12308"/>
            </a:avLst>
          </a:prstGeom>
          <a:solidFill>
            <a:srgbClr val="E6F4F2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6428232" y="2194560"/>
            <a:ext cx="4197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double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28232" y="2487168"/>
            <a:ext cx="4197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The method returns a decimal number.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2788920"/>
            <a:ext cx="4526280" cy="685800"/>
          </a:xfrm>
          <a:prstGeom prst="roundRect">
            <a:avLst>
              <a:gd name="adj" fmla="val 10667"/>
            </a:avLst>
          </a:prstGeom>
          <a:solidFill>
            <a:srgbClr val="FFF2CC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/>
          <p:nvPr/>
        </p:nvSpPr>
        <p:spPr>
          <a:xfrm>
            <a:off x="6428232" y="2926080"/>
            <a:ext cx="4197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daysLate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3218688"/>
            <a:ext cx="4197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A parameter: information supplied when calling the method.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3611880"/>
            <a:ext cx="4526280" cy="594360"/>
          </a:xfrm>
          <a:prstGeom prst="roundRect">
            <a:avLst>
              <a:gd name="adj" fmla="val 12308"/>
            </a:avLst>
          </a:prstGeom>
          <a:solidFill>
            <a:srgbClr val="E2F0D9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7" name="Text 15"/>
          <p:cNvSpPr/>
          <p:nvPr/>
        </p:nvSpPr>
        <p:spPr>
          <a:xfrm>
            <a:off x="6428232" y="3749040"/>
            <a:ext cx="4197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return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4041648"/>
            <a:ext cx="41970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The value sent back to the caller.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429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65D"/>
                </a:solidFill>
              </a:rPr>
              <a:t>Call it like this: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" y="3931920"/>
            <a:ext cx="5029200" cy="594360"/>
          </a:xfrm>
          <a:prstGeom prst="roundRect">
            <a:avLst>
              <a:gd name="adj" fmla="val 9231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1" name="Text 19"/>
          <p:cNvSpPr/>
          <p:nvPr/>
        </p:nvSpPr>
        <p:spPr>
          <a:xfrm>
            <a:off x="1024128" y="4041648"/>
            <a:ext cx="4809744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5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fee </a:t>
            </a: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laptop</a:t>
            </a: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calculateLateFee</a:t>
            </a: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27</a:t>
            </a:r>
            <a:endParaRPr lang="en-US" sz="7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code milestone: build and run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At this point every student should have this working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6675120" cy="4800600"/>
          </a:xfrm>
          <a:prstGeom prst="roundRect">
            <a:avLst>
              <a:gd name="adj" fmla="val 1143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795528" y="1252728"/>
            <a:ext cx="6455664" cy="4581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1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 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args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EquipmentItem laptop 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101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"Dell Laptop"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185000.00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5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laptop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displayDetails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fee 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laptop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calculateLateFee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"Late fee: " 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fee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laptop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isExpensive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1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635240" y="1508760"/>
            <a:ext cx="3703320" cy="1051560"/>
          </a:xfrm>
          <a:prstGeom prst="roundRect">
            <a:avLst>
              <a:gd name="adj" fmla="val 6957"/>
            </a:avLst>
          </a:prstGeom>
          <a:solidFill>
            <a:srgbClr val="FFF2CC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7799832" y="1645920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Checkpoint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99832" y="1938528"/>
            <a:ext cx="3374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Everyone should compile and run before moving on. Do not leave students with uncompiled code at this milestone.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35240" y="3246120"/>
            <a:ext cx="3703320" cy="9144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7799832" y="3383280"/>
            <a:ext cx="3374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Expected ideas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99832" y="3675888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Create object → call behaviour → store return value → print result.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28</a:t>
            </a:r>
            <a:endParaRPr lang="en-US" sz="7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challenge: add one method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10 minutes, then two volunteers explain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365D"/>
                </a:solidFill>
              </a:rPr>
              <a:t>Choose one: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75895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isAvailableForLoan() → returns true/false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replacementCostWithTax(double taxRate) → returns a double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printAvailabilityStatus() → prints a message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requiresApproval(double threshold) → returns true if cost is above threshold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5840" y="3931920"/>
            <a:ext cx="9875520" cy="960120"/>
          </a:xfrm>
          <a:prstGeom prst="roundRect">
            <a:avLst>
              <a:gd name="adj" fmla="val 7619"/>
            </a:avLst>
          </a:prstGeom>
          <a:solidFill>
            <a:srgbClr val="E6F4F2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1170432" y="4069080"/>
            <a:ext cx="9546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Rules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70432" y="4361688"/>
            <a:ext cx="9546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Your method must belong inside EquipmentItem. It must use at least one field from the object. It must either return a value or clearly perform an action.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5257800"/>
            <a:ext cx="9875520" cy="822960"/>
          </a:xfrm>
          <a:prstGeom prst="roundRect">
            <a:avLst>
              <a:gd name="adj" fmla="val 8889"/>
            </a:avLst>
          </a:prstGeom>
          <a:solidFill>
            <a:srgbClr val="EAF2F8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1170432" y="5394960"/>
            <a:ext cx="9546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Pair explanation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70432" y="5687568"/>
            <a:ext cx="9546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After coding, explain: What is the method name? What parameters does it take? What does it return? Which object state does it use?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29</a:t>
            </a:r>
            <a:endParaRPr lang="en-US" sz="7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Deliberate break: read the compiler error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Good programmers learn from error messages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6217920" cy="3474720"/>
          </a:xfrm>
          <a:prstGeom prst="roundRect">
            <a:avLst>
              <a:gd name="adj" fmla="val 1579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795528" y="1435608"/>
            <a:ext cx="5998464" cy="3255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2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EquipmentItem item </a:t>
            </a:r>
            <a:r>
              <a:rPr lang="en-US" sz="12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7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2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</a:t>
            </a:r>
            <a:r>
              <a:rPr lang="en-US" sz="12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2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7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2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7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// But the class currently only has this constructor:</a:t>
            </a:r>
            <a:r>
              <a:rPr lang="en-US" sz="12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7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27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</a:t>
            </a:r>
            <a:r>
              <a:rPr lang="en-US" sz="12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7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2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2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name</a:t>
            </a:r>
            <a:r>
              <a:rPr lang="en-US" sz="12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7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2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</a:t>
            </a:r>
            <a:r>
              <a:rPr lang="en-US" sz="127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2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replacementCost</a:t>
            </a:r>
            <a:r>
              <a:rPr lang="en-US" sz="12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7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2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</a:t>
            </a:r>
            <a:r>
              <a:rPr lang="en-US" sz="127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2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</a:t>
            </a:r>
            <a:r>
              <a:rPr lang="en-US" sz="12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2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7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2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r>
              <a:rPr lang="en-US" sz="12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7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27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70" dirty="0"/>
          </a:p>
        </p:txBody>
      </p:sp>
      <p:sp>
        <p:nvSpPr>
          <p:cNvPr id="7" name="Shape 5"/>
          <p:cNvSpPr/>
          <p:nvPr/>
        </p:nvSpPr>
        <p:spPr>
          <a:xfrm>
            <a:off x="7315200" y="1600200"/>
            <a:ext cx="3794760" cy="73152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7479792" y="1737360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Question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79792" y="2029968"/>
            <a:ext cx="3465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Why does new EquipmentItem() fail?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0" y="269748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7479792" y="2834640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Expected explanation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9792" y="3127248"/>
            <a:ext cx="3465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The constructor requires four arguments. Java cannot call a constructor that does not exist.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406908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E6F4F2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4" name="Text 12"/>
          <p:cNvSpPr/>
          <p:nvPr/>
        </p:nvSpPr>
        <p:spPr>
          <a:xfrm>
            <a:off x="7479792" y="4206240"/>
            <a:ext cx="3465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Teaching habit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79792" y="4498848"/>
            <a:ext cx="3465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Do not fix first. Read the error. Identify the line. Explain the cause. Then repair.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30</a:t>
            </a:r>
            <a:endParaRPr lang="en-US" sz="7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mistakes in Week 01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Name the mistakes before students repeat them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896112" y="146304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Mistake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175564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Writing void before a constructor.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4599432" y="146304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Mistake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9432" y="175564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Creating the class but never creating an object.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3258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/>
          <p:nvPr/>
        </p:nvSpPr>
        <p:spPr>
          <a:xfrm>
            <a:off x="8302752" y="146304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Mistake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02752" y="175564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Forgetting this and assigning a parameter to itself.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FF2CC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/>
          <p:nvPr/>
        </p:nvSpPr>
        <p:spPr>
          <a:xfrm>
            <a:off x="896112" y="310896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Mistake 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340156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Confusing the object reference variable with the object itself.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34840" y="29718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FF2CC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/>
          <p:nvPr/>
        </p:nvSpPr>
        <p:spPr>
          <a:xfrm>
            <a:off x="4599432" y="310896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Mistake 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99432" y="340156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Putting all behaviour in main() instead of the class.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29718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FF2CC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1" name="Text 19"/>
          <p:cNvSpPr/>
          <p:nvPr/>
        </p:nvSpPr>
        <p:spPr>
          <a:xfrm>
            <a:off x="8302752" y="310896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Mistake 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02752" y="340156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Not running the program after each small change.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31</a:t>
            </a:r>
            <a:endParaRPr lang="en-US" sz="7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simple design view of today’s class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This prepares students for formal UML in Week 02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3749040" y="1234440"/>
            <a:ext cx="4572000" cy="3840480"/>
          </a:xfrm>
          <a:prstGeom prst="roundRect">
            <a:avLst>
              <a:gd name="adj" fmla="val 1190"/>
            </a:avLst>
          </a:prstGeom>
          <a:solidFill>
            <a:srgbClr val="EAF2F8"/>
          </a:solidFill>
          <a:ln w="1397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3822192" y="130759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65D"/>
                </a:solidFill>
              </a:rPr>
              <a:t>EquipmentItem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49040" y="1618488"/>
            <a:ext cx="4572000" cy="0"/>
          </a:xfrm>
          <a:prstGeom prst="line">
            <a:avLst/>
          </a:prstGeom>
          <a:noFill/>
          <a:ln w="889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3858768" y="1709928"/>
            <a:ext cx="4352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id : long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name : String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replacementCost : double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available : boolean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49040" y="2478024"/>
            <a:ext cx="4572000" cy="0"/>
          </a:xfrm>
          <a:prstGeom prst="line">
            <a:avLst/>
          </a:prstGeom>
          <a:noFill/>
          <a:ln w="889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0" name="Text 8"/>
          <p:cNvSpPr/>
          <p:nvPr/>
        </p:nvSpPr>
        <p:spPr>
          <a:xfrm>
            <a:off x="3858768" y="2569464"/>
            <a:ext cx="435254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EquipmentItem(id, name, cost, available)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displayDetails() : void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calculateLateFee(days) : double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isExpensive(threshold) : boolean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05840" y="539496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E6F4F2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/>
          <p:nvPr/>
        </p:nvSpPr>
        <p:spPr>
          <a:xfrm>
            <a:off x="1170432" y="5532120"/>
            <a:ext cx="9729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Note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32" y="5824728"/>
            <a:ext cx="9729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This is not yet formal UML marking. It is a simple class sketch to help students see structure.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32</a:t>
            </a:r>
            <a:endParaRPr lang="en-US" sz="7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implementation: EquipmentItem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Part 1 of 2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09960" cy="5074920"/>
          </a:xfrm>
          <a:prstGeom prst="roundRect">
            <a:avLst>
              <a:gd name="adj" fmla="val 1081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612648" y="1252728"/>
            <a:ext cx="10890504" cy="4855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 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replacementCost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String name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</a:t>
            </a: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replacementCost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</a:t>
            </a: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replacementCost 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replacementCost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displayDetails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 - " 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 (£" 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replacementCost 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")"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33</a:t>
            </a:r>
            <a:endParaRPr lang="en-US" sz="7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implementation: EquipmentItem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Part 2 of 2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5989320" cy="2971800"/>
          </a:xfrm>
          <a:prstGeom prst="roundRect">
            <a:avLst>
              <a:gd name="adj" fmla="val 1846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886968" y="1435608"/>
            <a:ext cx="5769864" cy="2752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3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calculateLateFee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daysLate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daysLate 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2.50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isExpensive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threshold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replacementCost 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threshold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isAvailableForLoan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5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available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3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78040" y="150876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FFF2CC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7342632" y="1645920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Important limitation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42632" y="1938528"/>
            <a:ext cx="3648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This Week 01 version still exposes fields directly. That is deliberate. In Week 02, we will improve the design using encapsulation.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78040" y="333756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EAF2F8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7342632" y="3474720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Why not fix it now?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42632" y="3767328"/>
            <a:ext cx="3648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Because students must first understand class/object/constructor/methods before access control is meaningful.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34</a:t>
            </a:r>
            <a:endParaRPr lang="en-US" sz="7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implementation: Main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Create objects and invoke their behaviour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10881360" cy="4983480"/>
          </a:xfrm>
          <a:prstGeom prst="roundRect">
            <a:avLst>
              <a:gd name="adj" fmla="val 1101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795528" y="1252728"/>
            <a:ext cx="10661904" cy="4764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 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args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EquipmentItem laptop 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101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"Dell Laptop"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185000.00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EquipmentItem camera 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102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"Canon Camera"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120000.00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2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laptop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displayDetails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camera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displayDetails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laptop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calculateLateFee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isExpensive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1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35</a:t>
            </a:r>
            <a:endParaRPr lang="en-US" sz="7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Checkpoint questions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Students answer before the model answers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06070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What is the difference between a class and an object?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What does new do?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Why does the constructor have the same name as the class?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What does this.id mean?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If we create two EquipmentItem objects, do they share the same name field?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Why should calculateLateFee belong inside EquipmentItem?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43000" y="5532120"/>
            <a:ext cx="9829800" cy="640080"/>
          </a:xfrm>
          <a:prstGeom prst="roundRect">
            <a:avLst>
              <a:gd name="adj" fmla="val 11429"/>
            </a:avLst>
          </a:prstGeom>
          <a:solidFill>
            <a:srgbClr val="E6F4F2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7" name="Text 5"/>
          <p:cNvSpPr/>
          <p:nvPr/>
        </p:nvSpPr>
        <p:spPr>
          <a:xfrm>
            <a:off x="1307592" y="5669280"/>
            <a:ext cx="9500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Instruction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7592" y="5961888"/>
            <a:ext cx="95006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Answer individually first. Then compare with a neighbour. Then discuss as a class.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36</a:t>
            </a:r>
            <a:endParaRPr lang="en-US" sz="78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answers: checkpoint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Keep answers short and precise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060704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1F1F"/>
                </a:solidFill>
              </a:rPr>
              <a:t>A class defines a type/blueprint; an object is one instance created from that class.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1F1F"/>
                </a:solidFill>
              </a:rPr>
              <a:t>new creates an object and calls a constructor.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1F1F"/>
                </a:solidFill>
              </a:rPr>
              <a:t>A constructor must match the class name and has no return type.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1F1F"/>
                </a:solidFill>
              </a:rPr>
              <a:t>this.id means the id field inside the current object.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1F1F"/>
                </a:solidFill>
              </a:rPr>
              <a:t>No. Each object has its own independent field values.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F1F1F"/>
                </a:solidFill>
              </a:rPr>
              <a:t>Because late-fee calculation is behaviour of an equipment item and uses its item-related rules.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37</a:t>
            </a:r>
            <a:endParaRPr lang="en-US" sz="7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checklist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Before leaving Week 01, every student should be able to do this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103327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Create a Java class with fields.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Create a constructor with parameters.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Use this to assign constructor parameters to fields.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Create multiple objects with new.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Call methods on an object using dot notation.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Explain state, identity and behaviour using the EquipmentItem example.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Add one new method to the class and test it from main().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38</a:t>
            </a:r>
            <a:endParaRPr lang="en-US" sz="7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week: Encapsulation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Today’s class works, but it is not yet well designed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6080760" cy="2560320"/>
          </a:xfrm>
          <a:prstGeom prst="roundRect">
            <a:avLst>
              <a:gd name="adj" fmla="val 2143"/>
            </a:avLst>
          </a:prstGeom>
          <a:solidFill>
            <a:srgbClr val="111827"/>
          </a:solidFill>
          <a:ln w="889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795528" y="1481328"/>
            <a:ext cx="5861304" cy="2340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EquipmentItem laptop </a:t>
            </a:r>
            <a:r>
              <a:rPr lang="en-US" sz="13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4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EquipmentItem</a:t>
            </a:r>
            <a:r>
              <a:rPr lang="en-US" sz="13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101</a:t>
            </a:r>
            <a:r>
              <a:rPr lang="en-US" sz="13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"Dell Laptop"</a:t>
            </a:r>
            <a:r>
              <a:rPr lang="en-US" sz="13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185000.00</a:t>
            </a:r>
            <a:r>
              <a:rPr lang="en-US" sz="13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4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// This is currently allowed:</a:t>
            </a: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laptop</a:t>
            </a:r>
            <a:r>
              <a:rPr lang="en-US" sz="13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replacementCost </a:t>
            </a:r>
            <a:r>
              <a:rPr lang="en-US" sz="13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r>
              <a:rPr lang="en-US" sz="13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4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laptop</a:t>
            </a:r>
            <a:r>
              <a:rPr lang="en-US" sz="13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</a:t>
            </a:r>
            <a:r>
              <a:rPr lang="en-US" sz="13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4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34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40" dirty="0"/>
          </a:p>
        </p:txBody>
      </p:sp>
      <p:sp>
        <p:nvSpPr>
          <p:cNvPr id="7" name="Shape 5"/>
          <p:cNvSpPr/>
          <p:nvPr/>
        </p:nvSpPr>
        <p:spPr>
          <a:xfrm>
            <a:off x="7178040" y="160020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FF2CC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7342632" y="1737360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Week 2 question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42632" y="2029968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How can an object protect its own state so outside code cannot put it into an invalid condition?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78040" y="333756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EAF2F8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7342632" y="3474720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Answer coming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42632" y="3767328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private fields, public behaviour, constructors, validation and UML class diagrams.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39</a:t>
            </a:r>
            <a:endParaRPr lang="en-US" sz="7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After-class practice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Optional but strongly recommended before the tutorial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68680" y="1325880"/>
            <a:ext cx="996696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Create a new class called Room with roomNumber, capacity and available.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Add a constructor using this.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Create three Room objects in main().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Add a method isLargeRoom() that returns true if capacity is above a threshold.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Add a method displayRoomDetails().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1F1F"/>
                </a:solidFill>
              </a:rPr>
              <a:t>Write down which parts are state and which parts are behaviour.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5623560"/>
            <a:ext cx="9692640" cy="658368"/>
          </a:xfrm>
          <a:prstGeom prst="roundRect">
            <a:avLst>
              <a:gd name="adj" fmla="val 11111"/>
            </a:avLst>
          </a:prstGeom>
          <a:solidFill>
            <a:srgbClr val="E6F4F2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7" name="Text 5"/>
          <p:cNvSpPr/>
          <p:nvPr/>
        </p:nvSpPr>
        <p:spPr>
          <a:xfrm>
            <a:off x="1261872" y="5760720"/>
            <a:ext cx="9363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Purpose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61872" y="6053328"/>
            <a:ext cx="93634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The best way to understand objects is to build a second simple class without copying the first one line by line.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40</a:t>
            </a:r>
            <a:endParaRPr lang="en-US" sz="7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Lecturer pacing guide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0857A"/>
                </a:solidFill>
              </a:rPr>
              <a:t>Keep this as a workshop, not a monologue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201400" cy="0"/>
          </a:xfrm>
          <a:prstGeom prst="line">
            <a:avLst/>
          </a:prstGeom>
          <a:noFill/>
          <a:ln w="1524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822960" y="132588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E6F4F2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987552" y="146304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Do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755648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Make students predict, type, run, break, read and explain.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E6F4F2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4599432" y="146304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9432" y="1755648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Pause at the live code milestone until most students have a running program.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32588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E6F4F2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2" name="Text 10"/>
          <p:cNvSpPr/>
          <p:nvPr/>
        </p:nvSpPr>
        <p:spPr>
          <a:xfrm>
            <a:off x="8211312" y="146304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11312" y="1755648"/>
            <a:ext cx="2962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Use errors as teaching moments rather than fixing them instantly.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1089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5" name="Text 13"/>
          <p:cNvSpPr/>
          <p:nvPr/>
        </p:nvSpPr>
        <p:spPr>
          <a:xfrm>
            <a:off x="987552" y="324612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Avoid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87552" y="3538728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Do not start Spring Boot in this lecture.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34840" y="31089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18" name="Text 16"/>
          <p:cNvSpPr/>
          <p:nvPr/>
        </p:nvSpPr>
        <p:spPr>
          <a:xfrm>
            <a:off x="4599432" y="324612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Avoid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99432" y="3538728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Do not rush into inheritance, interfaces or access modifiers.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0" y="310896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0160">
            <a:solidFill>
              <a:srgbClr val="C9DDEB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21" name="Text 19"/>
          <p:cNvSpPr/>
          <p:nvPr/>
        </p:nvSpPr>
        <p:spPr>
          <a:xfrm>
            <a:off x="8211312" y="324612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Avoid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11312" y="3538728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Do not remove the final 15-minute Q&amp;A.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41</a:t>
            </a:r>
            <a:endParaRPr lang="en-US" sz="7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554480" y="237744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9EAF7"/>
                </a:solidFill>
              </a:rPr>
              <a:t>Use this time to clarify classes, objects, constructors, this, state and behaviour.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54480" y="42062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Next week: encapsulation and controlled access to object state.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0" y="5577840"/>
            <a:ext cx="8503920" cy="0"/>
          </a:xfrm>
          <a:prstGeom prst="line">
            <a:avLst/>
          </a:prstGeom>
          <a:noFill/>
          <a:ln w="38100">
            <a:solidFill>
              <a:srgbClr val="00857A"/>
            </a:solidFill>
            <a:prstDash val="solid"/>
          </a:ln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41148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F7F7F"/>
                </a:solidFill>
              </a:rPr>
              <a:t>5COSC019W · Pure Object-Oriented Programming · Week 01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475720" y="651052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80" dirty="0">
                <a:solidFill>
                  <a:srgbClr val="7F7F7F"/>
                </a:solidFill>
              </a:rPr>
              <a:t>42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5065</Words>
  <Application>Microsoft Macintosh PowerPoint</Application>
  <PresentationFormat>Widescreen</PresentationFormat>
  <Paragraphs>563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IIT / University of Westminster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01 Pure OOP: Java Foundations, Classes and Objects</dc:title>
  <dc:subject>5COSC019W Week 01 Pure OOP Lecture</dc:subject>
  <dc:creator>Informatics Institute of Technology</dc:creator>
  <cp:lastModifiedBy>Guhanathan Poravi</cp:lastModifiedBy>
  <cp:revision>2</cp:revision>
  <dcterms:created xsi:type="dcterms:W3CDTF">2026-09-22T02:58:16Z</dcterms:created>
  <dcterms:modified xsi:type="dcterms:W3CDTF">2026-09-22T03:06:30Z</dcterms:modified>
</cp:coreProperties>
</file>